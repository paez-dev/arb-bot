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1" r:id="rId5"/>
    <p:sldId id="259" r:id="rId6"/>
    <p:sldId id="258" r:id="rId7"/>
    <p:sldId id="257" r:id="rId8"/>
    <p:sldId id="262" r:id="rId9"/>
    <p:sldId id="263" r:id="rId10"/>
    <p:sldId id="256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4393"/>
    <a:srgbClr val="004169"/>
    <a:srgbClr val="C5262B"/>
    <a:srgbClr val="FE7300"/>
    <a:srgbClr val="FDC800"/>
    <a:srgbClr val="C52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C87BC-EB04-641F-F712-3A054CA96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D1DF83-1595-B4EA-D818-B1963B3C3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3F1E79-B443-278B-2175-062C8D594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5B944D-2C78-A64C-C826-BCB5B52DF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DFE24C-F55E-A41B-268C-CC64538C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359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AE3B7-2AAE-50C0-9F10-938904122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2AC6AA-9ACD-74FB-7C23-15CF6C2D6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79E4D8-C13E-C7B4-37BF-9F938E2A9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BAC9EB-FAC7-B4DC-F0E7-D568F8059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06EBEF-ACF1-841F-C226-276E5F33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3791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BA4E5-E6EB-1BB8-4C5E-B7A1B4611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91D3B0-3848-D081-4787-47B8D7ADC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F2B05D-D54B-C5AA-8E93-4833B32D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0CEB9A-8966-788C-5ED9-137978CE2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975F68-95B0-0170-4081-47501E68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945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718D8-379D-55FD-E920-E56F3A2BA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265584-03B0-4DE3-7673-BC6D706A1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E82F74-1AB5-DB9A-8ED8-A88398083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60FAC9-651D-DB43-F878-E88BE332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ECB791-9923-C42D-3D16-806E6700A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067A53-CCC4-3F95-1555-0A996621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013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FD873-BFBB-C8C3-1810-B7534C726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E3E145-F9D2-B27F-8D71-9ABA9A40B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936939-7DB5-388D-691E-CE002342D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F6DC0B5-4EB9-2C29-E7C8-1F1B492F1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C5A43F3-D86D-B465-809E-85AC59C9F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EAD758A-DEFE-51E8-F868-3CB7627CF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03A3215-E71C-AB23-BE98-2F1682A6E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FB578F-4E61-DCA4-2B6A-D7817394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0226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A63F0-8EE2-DB3E-FA0B-3C77799A1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33E6A20-3F15-8CF9-76CA-84E8BCB7D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A4F794-5B4C-C7F2-05A5-185345EA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087C25-2E25-411F-C1AF-2FB6679C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2490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51AAAD-4BBB-C8D1-3B92-B24079239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A623FD-9507-1224-C220-2EF59701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B26606-CCDB-2BFB-3EC7-F5BD0B39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247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F42C0-CC75-32BC-52D6-8664A10C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2F12D0-8114-FC69-9FE8-AEBC98FA6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29CC78-DC56-A763-65D8-5BA1AF219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614EE-2429-B9E4-F280-431360DC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A75517-9982-1A1A-8DEF-80E66BBF3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67FE6F-9614-63B7-D695-4F547593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094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D7B9B-F6DD-1EC9-80C9-9AD0FB9D8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C0F150-7854-FED9-B7E8-911E1499B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188DE3-31D5-11D8-AF84-7F066A290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C54181-CD86-3434-6654-AA3A72AC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5E2A22-70B2-9E84-D024-14F32E6E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117AA-A942-BAB6-B675-A9B40A50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350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E3EFB-F007-95E8-1B9B-E69F2CDE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778201-6CDF-2CC8-AE8F-98EC85657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793DDC-A5D4-D72B-4FE2-FE5CD9D9D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6D0916-CB0D-E456-6008-EABD62AC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01455F-5E14-B4EE-055F-58212252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222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7EEBCF-D393-0054-8612-3B452EC5C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7118EA-4894-3DF7-758A-9D29B0CB6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BCF545-727A-B79C-2FD5-6274E5EA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6AF213-8081-14DC-4336-9F967097C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9B0DE7-396A-8058-703A-92C6A5C1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2359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12C91D-22E3-EED9-7CD1-26028C36C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06208E-C151-B6BE-6743-87CA1EBFB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D3359A-DF8F-5B90-1FA7-DCCE7D2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9906F-4096-4B43-90FA-1E2CBF558BE3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ACB9A-C313-46B6-415D-F26DA63EE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DAB8ED-B7A7-6FC5-86A7-515648C4D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848A2-7C47-4700-881E-D7313702F5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392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15AA4-E61C-33AD-12A2-961E22730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F9A3774-BC15-2B7A-6F11-7BDB64C6F6F8}"/>
              </a:ext>
            </a:extLst>
          </p:cNvPr>
          <p:cNvSpPr txBox="1"/>
          <p:nvPr/>
        </p:nvSpPr>
        <p:spPr>
          <a:xfrm>
            <a:off x="943034" y="3173798"/>
            <a:ext cx="40164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F4FF9C0-6516-E2D0-0BFB-67478E706C93}"/>
              </a:ext>
            </a:extLst>
          </p:cNvPr>
          <p:cNvSpPr txBox="1"/>
          <p:nvPr/>
        </p:nvSpPr>
        <p:spPr>
          <a:xfrm>
            <a:off x="943034" y="4421982"/>
            <a:ext cx="4857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Autores</a:t>
            </a:r>
          </a:p>
        </p:txBody>
      </p:sp>
    </p:spTree>
    <p:extLst>
      <p:ext uri="{BB962C8B-B14F-4D97-AF65-F5344CB8AC3E}">
        <p14:creationId xmlns:p14="http://schemas.microsoft.com/office/powerpoint/2010/main" val="152337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A5349114-B856-85E8-57D3-51C05E6F0CD7}"/>
              </a:ext>
            </a:extLst>
          </p:cNvPr>
          <p:cNvGrpSpPr/>
          <p:nvPr/>
        </p:nvGrpSpPr>
        <p:grpSpPr>
          <a:xfrm>
            <a:off x="409642" y="173883"/>
            <a:ext cx="7515158" cy="484081"/>
            <a:chOff x="409642" y="173883"/>
            <a:chExt cx="7515158" cy="484081"/>
          </a:xfrm>
        </p:grpSpPr>
        <p:sp>
          <p:nvSpPr>
            <p:cNvPr id="7" name="Redondear rectángulo de esquina diagonal 5">
              <a:extLst>
                <a:ext uri="{FF2B5EF4-FFF2-40B4-BE49-F238E27FC236}">
                  <a16:creationId xmlns:a16="http://schemas.microsoft.com/office/drawing/2014/main" id="{643ACF5A-6FF9-A47A-56D2-9CB7B4C6DDD7}"/>
                </a:ext>
              </a:extLst>
            </p:cNvPr>
            <p:cNvSpPr/>
            <p:nvPr/>
          </p:nvSpPr>
          <p:spPr>
            <a:xfrm>
              <a:off x="409642" y="173883"/>
              <a:ext cx="6684841" cy="484081"/>
            </a:xfrm>
            <a:prstGeom prst="round2DiagRect">
              <a:avLst/>
            </a:prstGeom>
            <a:solidFill>
              <a:srgbClr val="0041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C5262B"/>
                </a:solidFill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FB5BEF47-67F3-D086-87BB-65578C40B030}"/>
                </a:ext>
              </a:extLst>
            </p:cNvPr>
            <p:cNvSpPr txBox="1"/>
            <p:nvPr/>
          </p:nvSpPr>
          <p:spPr>
            <a:xfrm>
              <a:off x="550597" y="196299"/>
              <a:ext cx="7374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24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Facultad de Ingenierías y Ciencias agropecuarias</a:t>
              </a:r>
            </a:p>
          </p:txBody>
        </p:sp>
      </p:grpSp>
      <p:sp>
        <p:nvSpPr>
          <p:cNvPr id="9" name="Elipse 8">
            <a:extLst>
              <a:ext uri="{FF2B5EF4-FFF2-40B4-BE49-F238E27FC236}">
                <a16:creationId xmlns:a16="http://schemas.microsoft.com/office/drawing/2014/main" id="{86DEBFA2-08D5-138D-FAB7-6C1A9F4DCE33}"/>
              </a:ext>
            </a:extLst>
          </p:cNvPr>
          <p:cNvSpPr/>
          <p:nvPr/>
        </p:nvSpPr>
        <p:spPr>
          <a:xfrm>
            <a:off x="156346" y="333718"/>
            <a:ext cx="164410" cy="164410"/>
          </a:xfrm>
          <a:prstGeom prst="ellipse">
            <a:avLst/>
          </a:prstGeom>
          <a:solidFill>
            <a:srgbClr val="0041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C5262B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03D7DE4-92C1-D05A-5C85-3556AA076C9B}"/>
              </a:ext>
            </a:extLst>
          </p:cNvPr>
          <p:cNvSpPr txBox="1"/>
          <p:nvPr/>
        </p:nvSpPr>
        <p:spPr>
          <a:xfrm>
            <a:off x="550597" y="752494"/>
            <a:ext cx="113050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600" b="1" spc="-150" dirty="0">
                <a:solidFill>
                  <a:srgbClr val="FDC8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Planteamiento del problema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EDDE417-033F-3E5D-C3E5-165D88DD7D39}"/>
              </a:ext>
            </a:extLst>
          </p:cNvPr>
          <p:cNvSpPr txBox="1"/>
          <p:nvPr/>
        </p:nvSpPr>
        <p:spPr>
          <a:xfrm>
            <a:off x="645481" y="1955020"/>
            <a:ext cx="888044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000" kern="100" dirty="0">
                <a:solidFill>
                  <a:schemeClr val="bg1"/>
                </a:solidFill>
                <a:latin typeface="Arial Nova Light" panose="020F0502020204030204" pitchFamily="34" charset="0"/>
                <a:cs typeface="Arial" panose="020B0604020202020204" pitchFamily="34" charset="0"/>
              </a:rPr>
              <a:t>Explicar brevemente el contexto y la importancia de la investigación. : En 3-5 oraciones, describe el problema que aborda la investigación. Usa viñetas para facilitar la lectura y destacar la información clave, y acompáñalas con imágenes ilustrativas.</a:t>
            </a:r>
          </a:p>
          <a:p>
            <a:pPr algn="just"/>
            <a:endParaRPr lang="es-CO" sz="2400" kern="100" dirty="0">
              <a:solidFill>
                <a:schemeClr val="bg1"/>
              </a:solidFill>
              <a:latin typeface="Arial Nova Light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88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D801146-A724-E8DF-98AF-5467B82CB386}"/>
              </a:ext>
            </a:extLst>
          </p:cNvPr>
          <p:cNvSpPr txBox="1"/>
          <p:nvPr/>
        </p:nvSpPr>
        <p:spPr>
          <a:xfrm>
            <a:off x="409642" y="680380"/>
            <a:ext cx="55491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600" b="1" spc="-150" dirty="0">
                <a:solidFill>
                  <a:srgbClr val="0041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Metodología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F29768-D648-1366-FDBA-798B5031128E}"/>
              </a:ext>
            </a:extLst>
          </p:cNvPr>
          <p:cNvSpPr txBox="1"/>
          <p:nvPr/>
        </p:nvSpPr>
        <p:spPr>
          <a:xfrm>
            <a:off x="409642" y="1656122"/>
            <a:ext cx="88804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0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F0502020204030204" pitchFamily="34" charset="0"/>
                <a:cs typeface="Arial" panose="020B0604020202020204" pitchFamily="34" charset="0"/>
              </a:rPr>
              <a:t>Resumir el enfoque y los métodos utilizados para obtener los datos y resultados. Describe brevemente el diseño de la investigación, la metodología aplicada y los instrumentos de recolección de datos (encuestas, análisis de imágenes, entrevistas, etc.). Usa un diagrama de flujo o un esquema simple si el proceso es complejo.</a:t>
            </a:r>
            <a:endParaRPr lang="es-CO" sz="2400" kern="100" dirty="0">
              <a:solidFill>
                <a:schemeClr val="tx1">
                  <a:lumMod val="85000"/>
                  <a:lumOff val="15000"/>
                </a:schemeClr>
              </a:solidFill>
              <a:latin typeface="Arial Nova Light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610D87F-03E6-CA9D-1A0A-6A99B7407829}"/>
              </a:ext>
            </a:extLst>
          </p:cNvPr>
          <p:cNvSpPr/>
          <p:nvPr/>
        </p:nvSpPr>
        <p:spPr>
          <a:xfrm>
            <a:off x="156346" y="333718"/>
            <a:ext cx="164410" cy="164410"/>
          </a:xfrm>
          <a:prstGeom prst="ellipse">
            <a:avLst/>
          </a:prstGeom>
          <a:solidFill>
            <a:srgbClr val="0041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C5262B"/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46A161C9-55BD-D587-8F8D-D64108D13824}"/>
              </a:ext>
            </a:extLst>
          </p:cNvPr>
          <p:cNvGrpSpPr/>
          <p:nvPr/>
        </p:nvGrpSpPr>
        <p:grpSpPr>
          <a:xfrm>
            <a:off x="409642" y="173883"/>
            <a:ext cx="7515158" cy="484081"/>
            <a:chOff x="409642" y="173883"/>
            <a:chExt cx="7515158" cy="484081"/>
          </a:xfrm>
        </p:grpSpPr>
        <p:sp>
          <p:nvSpPr>
            <p:cNvPr id="11" name="Redondear rectángulo de esquina diagonal 5">
              <a:extLst>
                <a:ext uri="{FF2B5EF4-FFF2-40B4-BE49-F238E27FC236}">
                  <a16:creationId xmlns:a16="http://schemas.microsoft.com/office/drawing/2014/main" id="{EF1D221A-49E3-0E00-0CD0-EDF471FBF33F}"/>
                </a:ext>
              </a:extLst>
            </p:cNvPr>
            <p:cNvSpPr/>
            <p:nvPr/>
          </p:nvSpPr>
          <p:spPr>
            <a:xfrm>
              <a:off x="409642" y="173883"/>
              <a:ext cx="6684841" cy="484081"/>
            </a:xfrm>
            <a:prstGeom prst="round2DiagRect">
              <a:avLst/>
            </a:prstGeom>
            <a:solidFill>
              <a:srgbClr val="0041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C5262B"/>
                </a:solidFill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0B1D025C-EF75-0A50-56BC-19707904A943}"/>
                </a:ext>
              </a:extLst>
            </p:cNvPr>
            <p:cNvSpPr txBox="1"/>
            <p:nvPr/>
          </p:nvSpPr>
          <p:spPr>
            <a:xfrm>
              <a:off x="550597" y="196299"/>
              <a:ext cx="7374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24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Facultad de Ingenierías y Ciencias agropecuarias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39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889E29F-D974-8FEC-325F-356EE8EDEC1C}"/>
              </a:ext>
            </a:extLst>
          </p:cNvPr>
          <p:cNvSpPr txBox="1"/>
          <p:nvPr/>
        </p:nvSpPr>
        <p:spPr>
          <a:xfrm>
            <a:off x="409642" y="690182"/>
            <a:ext cx="55491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600" b="1" spc="-150" dirty="0">
                <a:solidFill>
                  <a:srgbClr val="C5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D6F4C4-C07A-35AD-A625-F9716422F94E}"/>
              </a:ext>
            </a:extLst>
          </p:cNvPr>
          <p:cNvSpPr txBox="1"/>
          <p:nvPr/>
        </p:nvSpPr>
        <p:spPr>
          <a:xfrm>
            <a:off x="409642" y="1830396"/>
            <a:ext cx="88804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9700" fontAlgn="base">
              <a:spcBef>
                <a:spcPts val="1000"/>
              </a:spcBef>
              <a:spcAft>
                <a:spcPts val="1000"/>
              </a:spcAft>
            </a:pPr>
            <a:r>
              <a:rPr lang="es-CO" sz="20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F0502020204030204" pitchFamily="34" charset="0"/>
                <a:cs typeface="Arial" panose="020B0604020202020204" pitchFamily="34" charset="0"/>
              </a:rPr>
              <a:t>Presentar los hallazgos principales de forma clara y atractiva. Resalta 3-5 resultados clave con gráficos, tablas o mapas. Usa gráficos de barras, gráficos de líneas o mapas temáticos según corresponda. Asegúrate de que todos los gráficos tengan leyendas claras, ejes etiquetados y títulos descriptivos. Acompaña cada gráfico con una breve interpretación (una o dos líneas) para que el público entienda el significado de los datos sin leer demasiado. Repite este </a:t>
            </a:r>
            <a:r>
              <a:rPr lang="es-CO" sz="2000" kern="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F0502020204030204" pitchFamily="34" charset="0"/>
                <a:cs typeface="Arial" panose="020B0604020202020204" pitchFamily="34" charset="0"/>
              </a:rPr>
              <a:t>slide</a:t>
            </a:r>
            <a:r>
              <a:rPr lang="es-CO" sz="20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F0502020204030204" pitchFamily="34" charset="0"/>
                <a:cs typeface="Arial" panose="020B0604020202020204" pitchFamily="34" charset="0"/>
              </a:rPr>
              <a:t> si lo consideras necesario. 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B882F8D-A465-D0B8-1740-D222360FECD0}"/>
              </a:ext>
            </a:extLst>
          </p:cNvPr>
          <p:cNvSpPr/>
          <p:nvPr/>
        </p:nvSpPr>
        <p:spPr>
          <a:xfrm>
            <a:off x="156346" y="333718"/>
            <a:ext cx="164410" cy="164410"/>
          </a:xfrm>
          <a:prstGeom prst="ellipse">
            <a:avLst/>
          </a:prstGeom>
          <a:solidFill>
            <a:srgbClr val="0041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ED45014-E03C-15B0-136D-478324519752}"/>
              </a:ext>
            </a:extLst>
          </p:cNvPr>
          <p:cNvGrpSpPr/>
          <p:nvPr/>
        </p:nvGrpSpPr>
        <p:grpSpPr>
          <a:xfrm>
            <a:off x="409642" y="173883"/>
            <a:ext cx="7515158" cy="484081"/>
            <a:chOff x="409642" y="173883"/>
            <a:chExt cx="7515158" cy="484081"/>
          </a:xfrm>
        </p:grpSpPr>
        <p:sp>
          <p:nvSpPr>
            <p:cNvPr id="3" name="Redondear rectángulo de esquina diagonal 5">
              <a:extLst>
                <a:ext uri="{FF2B5EF4-FFF2-40B4-BE49-F238E27FC236}">
                  <a16:creationId xmlns:a16="http://schemas.microsoft.com/office/drawing/2014/main" id="{E4B2763D-04DA-D862-C18D-180EA7A7D27F}"/>
                </a:ext>
              </a:extLst>
            </p:cNvPr>
            <p:cNvSpPr/>
            <p:nvPr/>
          </p:nvSpPr>
          <p:spPr>
            <a:xfrm>
              <a:off x="409642" y="173883"/>
              <a:ext cx="6684841" cy="484081"/>
            </a:xfrm>
            <a:prstGeom prst="round2DiagRect">
              <a:avLst/>
            </a:prstGeom>
            <a:solidFill>
              <a:srgbClr val="0041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C5262B"/>
                </a:solidFill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9A2B91E-B64D-983C-CFA1-AAD6589D0A97}"/>
                </a:ext>
              </a:extLst>
            </p:cNvPr>
            <p:cNvSpPr txBox="1"/>
            <p:nvPr/>
          </p:nvSpPr>
          <p:spPr>
            <a:xfrm>
              <a:off x="550597" y="196299"/>
              <a:ext cx="7374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24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Facultad de Ingenierías y Ciencias agropecuarias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916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70FED-F21F-03B7-B35B-F9937274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77742E0-8592-C72F-E1C0-A5CAC2DB04A6}"/>
              </a:ext>
            </a:extLst>
          </p:cNvPr>
          <p:cNvSpPr txBox="1"/>
          <p:nvPr/>
        </p:nvSpPr>
        <p:spPr>
          <a:xfrm>
            <a:off x="409642" y="680380"/>
            <a:ext cx="108679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600" b="1" spc="-150" dirty="0">
                <a:solidFill>
                  <a:srgbClr val="0041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Discusión y Conclusiones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8667E5-8906-30E3-B05F-F61D880A0FC3}"/>
              </a:ext>
            </a:extLst>
          </p:cNvPr>
          <p:cNvSpPr txBox="1"/>
          <p:nvPr/>
        </p:nvSpPr>
        <p:spPr>
          <a:xfrm>
            <a:off x="409642" y="1656122"/>
            <a:ext cx="88804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0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F0502020204030204" pitchFamily="34" charset="0"/>
                <a:cs typeface="Arial" panose="020B0604020202020204" pitchFamily="34" charset="0"/>
              </a:rPr>
              <a:t>Interpretar los resultados y presentar las implicaciones o conclusiones de la investigación. Expón las implicaciones de los resultados en relación con el problema de investigación y los objetivos planteados. Incluye cualquier hallazgo sorprendente o relevante. Usa viñetas para resaltar cada conclusión y mantener esta sección breve y directa.</a:t>
            </a:r>
            <a:endParaRPr lang="es-CO" sz="2400" kern="100" dirty="0">
              <a:solidFill>
                <a:schemeClr val="tx1">
                  <a:lumMod val="85000"/>
                  <a:lumOff val="15000"/>
                </a:schemeClr>
              </a:solidFill>
              <a:latin typeface="Arial Nova Light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5AFF917-3DC5-271C-9C06-E9634AA16B9D}"/>
              </a:ext>
            </a:extLst>
          </p:cNvPr>
          <p:cNvSpPr/>
          <p:nvPr/>
        </p:nvSpPr>
        <p:spPr>
          <a:xfrm>
            <a:off x="156346" y="333718"/>
            <a:ext cx="164410" cy="164410"/>
          </a:xfrm>
          <a:prstGeom prst="ellipse">
            <a:avLst/>
          </a:prstGeom>
          <a:solidFill>
            <a:srgbClr val="0041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C5262B"/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8EBFCC7D-FF47-CE43-C411-C400EFC5255D}"/>
              </a:ext>
            </a:extLst>
          </p:cNvPr>
          <p:cNvGrpSpPr/>
          <p:nvPr/>
        </p:nvGrpSpPr>
        <p:grpSpPr>
          <a:xfrm>
            <a:off x="409642" y="173883"/>
            <a:ext cx="7515158" cy="484081"/>
            <a:chOff x="409642" y="173883"/>
            <a:chExt cx="7515158" cy="484081"/>
          </a:xfrm>
        </p:grpSpPr>
        <p:sp>
          <p:nvSpPr>
            <p:cNvPr id="11" name="Redondear rectángulo de esquina diagonal 5">
              <a:extLst>
                <a:ext uri="{FF2B5EF4-FFF2-40B4-BE49-F238E27FC236}">
                  <a16:creationId xmlns:a16="http://schemas.microsoft.com/office/drawing/2014/main" id="{D7574BC0-C4BC-7C04-FC42-D2187E8BFB95}"/>
                </a:ext>
              </a:extLst>
            </p:cNvPr>
            <p:cNvSpPr/>
            <p:nvPr/>
          </p:nvSpPr>
          <p:spPr>
            <a:xfrm>
              <a:off x="409642" y="173883"/>
              <a:ext cx="6684841" cy="484081"/>
            </a:xfrm>
            <a:prstGeom prst="round2DiagRect">
              <a:avLst/>
            </a:prstGeom>
            <a:solidFill>
              <a:srgbClr val="0041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C5262B"/>
                </a:solidFill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5D6CA638-0448-EE31-FBC8-7462213A1AA1}"/>
                </a:ext>
              </a:extLst>
            </p:cNvPr>
            <p:cNvSpPr txBox="1"/>
            <p:nvPr/>
          </p:nvSpPr>
          <p:spPr>
            <a:xfrm>
              <a:off x="550597" y="196299"/>
              <a:ext cx="7374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24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Facultad de Ingenierías y Ciencias agropecuarias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553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6BC88-E5DB-7411-E028-5749183F1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0A55E60-5731-2B0A-06C5-E1F34592C0EF}"/>
              </a:ext>
            </a:extLst>
          </p:cNvPr>
          <p:cNvSpPr txBox="1"/>
          <p:nvPr/>
        </p:nvSpPr>
        <p:spPr>
          <a:xfrm>
            <a:off x="409642" y="680380"/>
            <a:ext cx="108679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600" b="1" spc="-150" dirty="0">
                <a:solidFill>
                  <a:srgbClr val="0041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Bibliografía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3042ED1-C1AA-EF42-495F-F9CF553C82FF}"/>
              </a:ext>
            </a:extLst>
          </p:cNvPr>
          <p:cNvSpPr txBox="1"/>
          <p:nvPr/>
        </p:nvSpPr>
        <p:spPr>
          <a:xfrm>
            <a:off x="409642" y="1656122"/>
            <a:ext cx="8880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0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F0502020204030204" pitchFamily="34" charset="0"/>
                <a:cs typeface="Arial" panose="020B0604020202020204" pitchFamily="34" charset="0"/>
              </a:rPr>
              <a:t>Lista las referencias usadas en la presentación en formato APA 7</a:t>
            </a:r>
            <a:r>
              <a:rPr lang="es-CO" sz="2000" kern="1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F0502020204030204" pitchFamily="34" charset="0"/>
                <a:cs typeface="Arial" panose="020B0604020202020204" pitchFamily="34" charset="0"/>
              </a:rPr>
              <a:t>a</a:t>
            </a:r>
            <a:r>
              <a:rPr lang="es-CO" sz="20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F0502020204030204" pitchFamily="34" charset="0"/>
                <a:cs typeface="Arial" panose="020B0604020202020204" pitchFamily="34" charset="0"/>
              </a:rPr>
              <a:t> edición</a:t>
            </a:r>
            <a:endParaRPr lang="es-CO" sz="2400" kern="100" dirty="0">
              <a:solidFill>
                <a:schemeClr val="tx1">
                  <a:lumMod val="85000"/>
                  <a:lumOff val="15000"/>
                </a:schemeClr>
              </a:solidFill>
              <a:latin typeface="Arial Nova Light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6DA5058-4A2F-AE7F-2C6B-8376C075D4C7}"/>
              </a:ext>
            </a:extLst>
          </p:cNvPr>
          <p:cNvSpPr/>
          <p:nvPr/>
        </p:nvSpPr>
        <p:spPr>
          <a:xfrm>
            <a:off x="156346" y="333718"/>
            <a:ext cx="164410" cy="164410"/>
          </a:xfrm>
          <a:prstGeom prst="ellipse">
            <a:avLst/>
          </a:prstGeom>
          <a:solidFill>
            <a:srgbClr val="0041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C5262B"/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A18A1FEF-3786-21AE-82C7-763930E2F0F4}"/>
              </a:ext>
            </a:extLst>
          </p:cNvPr>
          <p:cNvGrpSpPr/>
          <p:nvPr/>
        </p:nvGrpSpPr>
        <p:grpSpPr>
          <a:xfrm>
            <a:off x="409642" y="173883"/>
            <a:ext cx="7515158" cy="484081"/>
            <a:chOff x="409642" y="173883"/>
            <a:chExt cx="7515158" cy="484081"/>
          </a:xfrm>
        </p:grpSpPr>
        <p:sp>
          <p:nvSpPr>
            <p:cNvPr id="11" name="Redondear rectángulo de esquina diagonal 5">
              <a:extLst>
                <a:ext uri="{FF2B5EF4-FFF2-40B4-BE49-F238E27FC236}">
                  <a16:creationId xmlns:a16="http://schemas.microsoft.com/office/drawing/2014/main" id="{8F1458E1-2E41-1EF9-E990-7B1F49699D2D}"/>
                </a:ext>
              </a:extLst>
            </p:cNvPr>
            <p:cNvSpPr/>
            <p:nvPr/>
          </p:nvSpPr>
          <p:spPr>
            <a:xfrm>
              <a:off x="409642" y="173883"/>
              <a:ext cx="6684841" cy="484081"/>
            </a:xfrm>
            <a:prstGeom prst="round2DiagRect">
              <a:avLst/>
            </a:prstGeom>
            <a:solidFill>
              <a:srgbClr val="0041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C5262B"/>
                </a:solidFill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12586C10-C02E-7463-60FC-9B31797C86E0}"/>
                </a:ext>
              </a:extLst>
            </p:cNvPr>
            <p:cNvSpPr txBox="1"/>
            <p:nvPr/>
          </p:nvSpPr>
          <p:spPr>
            <a:xfrm>
              <a:off x="550597" y="196299"/>
              <a:ext cx="7374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24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Facultad de Ingenierías y Ciencias agropecuarias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5406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2223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2E6849BDACD974A9B37E1A537FDD3EF" ma:contentTypeVersion="5" ma:contentTypeDescription="Crear nuevo documento." ma:contentTypeScope="" ma:versionID="76528ee5f4a33e5bb2ab57bbeed1bd07">
  <xsd:schema xmlns:xsd="http://www.w3.org/2001/XMLSchema" xmlns:xs="http://www.w3.org/2001/XMLSchema" xmlns:p="http://schemas.microsoft.com/office/2006/metadata/properties" xmlns:ns3="885bdbc9-d76f-4975-aa03-97e6792028a4" targetNamespace="http://schemas.microsoft.com/office/2006/metadata/properties" ma:root="true" ma:fieldsID="52dca094d76a530a3141d62b1f212ad8" ns3:_="">
    <xsd:import namespace="885bdbc9-d76f-4975-aa03-97e6792028a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bdbc9-d76f-4975-aa03-97e6792028a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184A13-4EB4-43B1-8DAF-99221D5FC8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B59E01-D8B2-49FC-9EAC-A775CDDD2D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5bdbc9-d76f-4975-aa03-97e6792028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A042D0-73F0-4605-AD24-D58D266E2586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885bdbc9-d76f-4975-aa03-97e6792028a4"/>
    <ds:schemaRef ds:uri="http://purl.org/dc/terms/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291</Words>
  <Application>Microsoft Office PowerPoint</Application>
  <PresentationFormat>Panorámica</PresentationFormat>
  <Paragraphs>17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Arial Nova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Castañeda Trespalacios</dc:creator>
  <cp:lastModifiedBy>RJ FLIA</cp:lastModifiedBy>
  <cp:revision>5</cp:revision>
  <dcterms:created xsi:type="dcterms:W3CDTF">2025-08-01T17:03:55Z</dcterms:created>
  <dcterms:modified xsi:type="dcterms:W3CDTF">2025-12-04T16:59:01Z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0x01010052E6849BDACD974A9B37E1A537FDD3EF</vt:lpwstr>
  </property>
</Properties>
</file>